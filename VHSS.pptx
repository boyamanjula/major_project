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2" r:id="rId13"/>
    <p:sldId id="273" r:id="rId14"/>
    <p:sldId id="268" r:id="rId15"/>
    <p:sldId id="269" r:id="rId16"/>
    <p:sldId id="270" r:id="rId17"/>
    <p:sldId id="271" r:id="rId18"/>
  </p:sldIdLst>
  <p:sldSz cx="18288000" cy="10287000"/>
  <p:notesSz cx="6858000" cy="9144000"/>
  <p:embeddedFontLst>
    <p:embeddedFont>
      <p:font typeface="Calibri (MS) Bold" charset="0"/>
      <p:regular r:id="rId19"/>
    </p:embeddedFont>
    <p:embeddedFont>
      <p:font typeface="Arial Bold" pitchFamily="34" charset="0"/>
      <p:bold r:id="rId20"/>
    </p:embeddedFont>
    <p:embeddedFont>
      <p:font typeface="Wingdings 3" pitchFamily="18" charset="2"/>
      <p:regular r:id="rId21"/>
    </p:embeddedFont>
    <p:embeddedFont>
      <p:font typeface="Lucida Sans Unicode" pitchFamily="34" charset="0"/>
      <p:regular r:id="rId22"/>
    </p:embeddedFont>
    <p:embeddedFont>
      <p:font typeface="Calibri (MS)" charset="0"/>
      <p:regular r:id="rId23"/>
    </p:embeddedFont>
    <p:embeddedFont>
      <p:font typeface="Wingdings 2" pitchFamily="18" charset="2"/>
      <p:regular r:id="rId24"/>
    </p:embeddedFont>
    <p:embeddedFont>
      <p:font typeface="Verdana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93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86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78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71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64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57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48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42" algn="l" defTabSz="9143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7" d="100"/>
          <a:sy n="47" d="100"/>
        </p:scale>
        <p:origin x="-456" y="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3" y="6996220"/>
            <a:ext cx="18302178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1371600" y="2628902"/>
            <a:ext cx="15544800" cy="2744642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86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1371600" y="5417411"/>
            <a:ext cx="15544800" cy="1799556"/>
          </a:xfrm>
        </p:spPr>
        <p:txBody>
          <a:bodyPr lIns="81642" rIns="81642"/>
          <a:lstStyle>
            <a:lvl1pPr marL="0" marR="114299" indent="0" algn="r">
              <a:buNone/>
              <a:defRPr>
                <a:solidFill>
                  <a:schemeClr val="tx2"/>
                </a:solidFill>
              </a:defRPr>
            </a:lvl1pPr>
            <a:lvl2pPr marL="816422" indent="0" algn="ctr">
              <a:buNone/>
            </a:lvl2pPr>
            <a:lvl3pPr marL="1632844" indent="0" algn="ctr">
              <a:buNone/>
            </a:lvl3pPr>
            <a:lvl4pPr marL="2449266" indent="0" algn="ctr">
              <a:buNone/>
            </a:lvl4pPr>
            <a:lvl5pPr marL="3265688" indent="0" algn="ctr">
              <a:buNone/>
            </a:lvl5pPr>
            <a:lvl6pPr marL="4082110" indent="0" algn="ctr">
              <a:buNone/>
            </a:lvl6pPr>
            <a:lvl7pPr marL="4898532" indent="0" algn="ctr">
              <a:buNone/>
            </a:lvl7pPr>
            <a:lvl8pPr marL="5714954" indent="0" algn="ctr">
              <a:buNone/>
            </a:lvl8pPr>
            <a:lvl9pPr marL="6531376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7529" y="7429500"/>
            <a:ext cx="18295530" cy="2868132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752" y="1589568"/>
            <a:ext cx="15544800" cy="27432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86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45426" y="4397568"/>
            <a:ext cx="9144000" cy="2182332"/>
          </a:xfrm>
        </p:spPr>
        <p:txBody>
          <a:bodyPr lIns="163284" rIns="163284" anchor="t"/>
          <a:lstStyle>
            <a:lvl1pPr marL="0" indent="0" algn="l">
              <a:buNone/>
              <a:defRPr sz="4100">
                <a:solidFill>
                  <a:schemeClr val="tx1"/>
                </a:solidFill>
              </a:defRPr>
            </a:lvl1pPr>
            <a:lvl2pPr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7273360" y="4508208"/>
            <a:ext cx="365760" cy="3429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6900528" y="4508208"/>
            <a:ext cx="365760" cy="3429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221993"/>
            <a:ext cx="8077200" cy="6788945"/>
          </a:xfrm>
        </p:spPr>
        <p:txBody>
          <a:bodyPr/>
          <a:lstStyle>
            <a:lvl1pPr>
              <a:defRPr sz="5000"/>
            </a:lvl1pPr>
            <a:lvl2pPr>
              <a:defRPr sz="43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221993"/>
            <a:ext cx="8077200" cy="6788945"/>
          </a:xfrm>
        </p:spPr>
        <p:txBody>
          <a:bodyPr/>
          <a:lstStyle>
            <a:lvl1pPr>
              <a:defRPr sz="5000"/>
            </a:lvl1pPr>
            <a:lvl2pPr>
              <a:defRPr sz="43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16459200" cy="17145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8115300"/>
            <a:ext cx="8080376" cy="1143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326569" anchor="ctr"/>
          <a:lstStyle>
            <a:lvl1pPr marL="0" indent="0">
              <a:buNone/>
              <a:defRPr sz="4300" b="0">
                <a:solidFill>
                  <a:schemeClr val="bg1"/>
                </a:solidFill>
              </a:defRPr>
            </a:lvl1pPr>
            <a:lvl2pPr>
              <a:buNone/>
              <a:defRPr sz="3600" b="1"/>
            </a:lvl2pPr>
            <a:lvl3pPr>
              <a:buNone/>
              <a:defRPr sz="3200" b="1"/>
            </a:lvl3pPr>
            <a:lvl4pPr>
              <a:buNone/>
              <a:defRPr sz="2900" b="1"/>
            </a:lvl4pPr>
            <a:lvl5pPr>
              <a:buNone/>
              <a:defRPr sz="29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9290053" y="8115300"/>
            <a:ext cx="8083550" cy="1143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326569" anchor="ctr"/>
          <a:lstStyle>
            <a:lvl1pPr marL="0" indent="0">
              <a:buNone/>
              <a:defRPr sz="4300" b="0">
                <a:solidFill>
                  <a:schemeClr val="bg1"/>
                </a:solidFill>
              </a:defRPr>
            </a:lvl1pPr>
            <a:lvl2pPr>
              <a:buNone/>
              <a:defRPr sz="3600" b="1"/>
            </a:lvl2pPr>
            <a:lvl3pPr>
              <a:buNone/>
              <a:defRPr sz="3200" b="1"/>
            </a:lvl3pPr>
            <a:lvl4pPr>
              <a:buNone/>
              <a:defRPr sz="2900" b="1"/>
            </a:lvl4pPr>
            <a:lvl5pPr>
              <a:buNone/>
              <a:defRPr sz="29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914400" y="2166442"/>
            <a:ext cx="8080376" cy="5912645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1" y="2166442"/>
            <a:ext cx="8083550" cy="5912645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4300"/>
            </a:lvl1pPr>
            <a:lvl2pPr>
              <a:defRPr sz="36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7315200"/>
            <a:ext cx="14963552" cy="6858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4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839200" y="8032653"/>
            <a:ext cx="7949184" cy="1371600"/>
          </a:xfrm>
        </p:spPr>
        <p:txBody>
          <a:bodyPr/>
          <a:lstStyle>
            <a:lvl1pPr marL="0" indent="0" algn="r">
              <a:buNone/>
              <a:defRPr sz="29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828800" y="411480"/>
            <a:ext cx="14959584" cy="6858000"/>
          </a:xfrm>
        </p:spPr>
        <p:txBody>
          <a:bodyPr/>
          <a:lstStyle>
            <a:lvl1pPr>
              <a:defRPr sz="5700"/>
            </a:lvl1pPr>
            <a:lvl2pPr>
              <a:defRPr sz="5000"/>
            </a:lvl2pPr>
            <a:lvl3pPr>
              <a:defRPr sz="4300"/>
            </a:lvl3pPr>
            <a:lvl4pPr>
              <a:defRPr sz="3600"/>
            </a:lvl4pPr>
            <a:lvl5pPr>
              <a:defRPr sz="3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3454064" y="9611916"/>
            <a:ext cx="3840480" cy="54864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2464" y="8165103"/>
            <a:ext cx="14325600" cy="972348"/>
          </a:xfrm>
          <a:noFill/>
        </p:spPr>
        <p:txBody>
          <a:bodyPr lIns="163284" tIns="0" rIns="163284" anchor="t"/>
          <a:lstStyle>
            <a:lvl1pPr marL="0" marR="32657" indent="0" algn="r">
              <a:buNone/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284952"/>
            <a:ext cx="17373600" cy="658368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57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760145" y="9611917"/>
            <a:ext cx="4701362" cy="5476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297683"/>
            <a:ext cx="16150864" cy="844008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54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998546" y="8917404"/>
            <a:ext cx="9881248" cy="1381614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63284" tIns="81642" rIns="163284" bIns="81642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971435" y="8908517"/>
            <a:ext cx="7380902" cy="1400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63284" tIns="81642" rIns="163284" bIns="81642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12084" y="8686880"/>
            <a:ext cx="6804628" cy="1621302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63284" tIns="81642" rIns="163284" bIns="81642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8473" y="8681608"/>
            <a:ext cx="6811018" cy="1626575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17328224" y="7482660"/>
            <a:ext cx="365760" cy="3429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16955392" y="7482660"/>
            <a:ext cx="365760" cy="3429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3284" tIns="81642" rIns="163284" bIns="81642"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221994"/>
            <a:ext cx="16459200" cy="6579107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688026" y="411961"/>
            <a:ext cx="3554940" cy="8389142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62"/>
            <a:ext cx="12649200" cy="838914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998546" y="8917404"/>
            <a:ext cx="9881248" cy="1381614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63284" tIns="81642" rIns="163284" bIns="81642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971435" y="8908517"/>
            <a:ext cx="7380902" cy="1400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63284" tIns="81642" rIns="163284" bIns="81642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12084" y="8686880"/>
            <a:ext cx="6804628" cy="1621302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63284" tIns="81642" rIns="163284" bIns="81642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8473" y="8681608"/>
            <a:ext cx="6811018" cy="1626575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163284" tIns="81642" rIns="163284" bIns="81642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914400" y="2221993"/>
            <a:ext cx="16459200" cy="6788945"/>
          </a:xfrm>
          <a:prstGeom prst="rect">
            <a:avLst/>
          </a:prstGeom>
        </p:spPr>
        <p:txBody>
          <a:bodyPr vert="horz" lIns="163284" tIns="81642" rIns="163284" bIns="81642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13454064" y="9611916"/>
            <a:ext cx="3840480" cy="548640"/>
          </a:xfrm>
          <a:prstGeom prst="rect">
            <a:avLst/>
          </a:prstGeom>
        </p:spPr>
        <p:txBody>
          <a:bodyPr vert="horz" lIns="163284" tIns="81642" rIns="163284" bIns="81642" anchor="b"/>
          <a:lstStyle>
            <a:lvl1pPr algn="l" eaLnBrk="1" latinLnBrk="0" hangingPunct="1">
              <a:defRPr kumimoji="0" sz="18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8760145" y="9611917"/>
            <a:ext cx="4701362" cy="547688"/>
          </a:xfrm>
          <a:prstGeom prst="rect">
            <a:avLst/>
          </a:prstGeom>
        </p:spPr>
        <p:txBody>
          <a:bodyPr vert="horz" lIns="163284" tIns="81642" rIns="163284" bIns="81642" anchor="b"/>
          <a:lstStyle>
            <a:lvl1pPr algn="r" eaLnBrk="1" latinLnBrk="0" hangingPunct="1">
              <a:defRPr kumimoji="0" sz="18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7294544" y="9611917"/>
            <a:ext cx="731520" cy="547688"/>
          </a:xfrm>
          <a:prstGeom prst="rect">
            <a:avLst/>
          </a:prstGeom>
        </p:spPr>
        <p:txBody>
          <a:bodyPr vert="horz" lIns="163284" tIns="81642" rIns="163284" bIns="81642" anchor="b"/>
          <a:lstStyle>
            <a:lvl1pPr algn="r" eaLnBrk="1" latinLnBrk="0" hangingPunct="1">
              <a:defRPr kumimoji="0" sz="18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73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653138" indent="-457196" algn="l" rtl="0" eaLnBrk="1" latinLnBrk="0" hangingPunct="1">
        <a:spcBef>
          <a:spcPts val="714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0334" indent="-408211" algn="l" rtl="0" eaLnBrk="1" latinLnBrk="0" hangingPunct="1">
        <a:spcBef>
          <a:spcPts val="579"/>
        </a:spcBef>
        <a:buClr>
          <a:schemeClr val="accent1"/>
        </a:buClr>
        <a:buFont typeface="Verdana"/>
        <a:buChar char="◦"/>
        <a:defRPr kumimoji="0" sz="4100" kern="1200">
          <a:solidFill>
            <a:schemeClr val="tx1"/>
          </a:solidFill>
          <a:latin typeface="+mn-lt"/>
          <a:ea typeface="+mn-ea"/>
          <a:cs typeface="+mn-cs"/>
        </a:defRPr>
      </a:lvl2pPr>
      <a:lvl3pPr marL="1534873" indent="-408211" algn="l" rtl="0" eaLnBrk="1" latinLnBrk="0" hangingPunct="1">
        <a:spcBef>
          <a:spcPts val="625"/>
        </a:spcBef>
        <a:buClr>
          <a:schemeClr val="accent2"/>
        </a:buClr>
        <a:buSzPct val="100000"/>
        <a:buFont typeface="Wingdings 2"/>
        <a:buChar char=""/>
        <a:defRPr kumimoji="0" sz="3700" kern="1200">
          <a:solidFill>
            <a:schemeClr val="tx1"/>
          </a:solidFill>
          <a:latin typeface="+mn-lt"/>
          <a:ea typeface="+mn-ea"/>
          <a:cs typeface="+mn-cs"/>
        </a:defRPr>
      </a:lvl3pPr>
      <a:lvl4pPr marL="2041055" indent="-408211" algn="l" rtl="0" eaLnBrk="1" latinLnBrk="0" hangingPunct="1">
        <a:spcBef>
          <a:spcPts val="625"/>
        </a:spcBef>
        <a:buClr>
          <a:schemeClr val="accent2"/>
        </a:buClr>
        <a:buFont typeface="Wingdings 2"/>
        <a:buChar char=""/>
        <a:defRPr kumimoji="0"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9266" indent="-408211" algn="l" rtl="0" eaLnBrk="1" latinLnBrk="0" hangingPunct="1">
        <a:spcBef>
          <a:spcPts val="625"/>
        </a:spcBef>
        <a:buClr>
          <a:schemeClr val="accent2"/>
        </a:buClr>
        <a:buFont typeface="Wingdings 2"/>
        <a:buChar char="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7477" indent="-408211" algn="l" rtl="0" eaLnBrk="1" latinLnBrk="0" hangingPunct="1">
        <a:spcBef>
          <a:spcPts val="625"/>
        </a:spcBef>
        <a:buClr>
          <a:schemeClr val="accent3"/>
        </a:buClr>
        <a:buFont typeface="Wingdings 2"/>
        <a:buChar char="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88" indent="-408211" algn="l" rtl="0" eaLnBrk="1" latinLnBrk="0" hangingPunct="1">
        <a:spcBef>
          <a:spcPts val="625"/>
        </a:spcBef>
        <a:buClr>
          <a:schemeClr val="accent3"/>
        </a:buClr>
        <a:buFont typeface="Wingdings 2"/>
        <a:buChar char="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3673899" indent="-408211" algn="l" rtl="0" eaLnBrk="1" latinLnBrk="0" hangingPunct="1">
        <a:spcBef>
          <a:spcPts val="625"/>
        </a:spcBef>
        <a:buClr>
          <a:schemeClr val="accent3"/>
        </a:buClr>
        <a:buFont typeface="Wingdings 2"/>
        <a:buChar char="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4082110" indent="-408211" algn="l" rtl="0" eaLnBrk="1" latinLnBrk="0" hangingPunct="1">
        <a:spcBef>
          <a:spcPts val="625"/>
        </a:spcBef>
        <a:buClr>
          <a:schemeClr val="accent3"/>
        </a:buClr>
        <a:buFont typeface="Wingdings 2"/>
        <a:buChar char=""/>
        <a:defRPr kumimoji="0" sz="29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81642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63284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24492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326568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408211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48985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5714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653137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02136" y="540002"/>
            <a:ext cx="12343864" cy="1713965"/>
            <a:chOff x="0" y="0"/>
            <a:chExt cx="11703812" cy="1625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3808" cy="1625088"/>
            </a:xfrm>
            <a:custGeom>
              <a:avLst/>
              <a:gdLst/>
              <a:ahLst/>
              <a:cxnLst/>
              <a:rect l="l" t="t" r="r" b="b"/>
              <a:pathLst>
                <a:path w="11703808" h="1625088">
                  <a:moveTo>
                    <a:pt x="0" y="0"/>
                  </a:moveTo>
                  <a:lnTo>
                    <a:pt x="11703808" y="0"/>
                  </a:lnTo>
                  <a:lnTo>
                    <a:pt x="11703808" y="1625088"/>
                  </a:lnTo>
                  <a:lnTo>
                    <a:pt x="0" y="16250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330" b="-9033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03812" cy="17108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0033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Virtual Healthcare Consultation </a:t>
              </a:r>
            </a:p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0033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&amp; Support System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15998" y="2700003"/>
            <a:ext cx="2969996" cy="2700003"/>
            <a:chOff x="0" y="0"/>
            <a:chExt cx="2815996" cy="25600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15971" cy="2559939"/>
            </a:xfrm>
            <a:custGeom>
              <a:avLst/>
              <a:gdLst/>
              <a:ahLst/>
              <a:cxnLst/>
              <a:rect l="l" t="t" r="r" b="b"/>
              <a:pathLst>
                <a:path w="2815971" h="2559939">
                  <a:moveTo>
                    <a:pt x="0" y="0"/>
                  </a:moveTo>
                  <a:lnTo>
                    <a:pt x="2815971" y="0"/>
                  </a:lnTo>
                  <a:lnTo>
                    <a:pt x="2815971" y="2559939"/>
                  </a:lnTo>
                  <a:lnTo>
                    <a:pt x="0" y="25599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76" r="-576" b="-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2438400" y="7072967"/>
            <a:ext cx="5762440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Under the guidance of </a:t>
            </a:r>
          </a:p>
          <a:p>
            <a:pPr>
              <a:lnSpc>
                <a:spcPts val="3239"/>
              </a:lnSpc>
            </a:pPr>
            <a:r>
              <a:rPr lang="en-US" sz="2700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Mrs.D.Lingavva</a:t>
            </a:r>
            <a:endParaRPr lang="en-US" sz="2700" dirty="0">
              <a:solidFill>
                <a:srgbClr val="141414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592563" y="7508985"/>
            <a:ext cx="3796882" cy="194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9"/>
              </a:lnSpc>
            </a:pPr>
            <a:r>
              <a:rPr lang="en-US" sz="3000" b="1" dirty="0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Team members:</a:t>
            </a:r>
          </a:p>
          <a:p>
            <a:pPr>
              <a:lnSpc>
                <a:spcPts val="3727"/>
              </a:lnSpc>
            </a:pPr>
            <a:r>
              <a:rPr lang="en-US" sz="2700" dirty="0" err="1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B.Manjula</a:t>
            </a:r>
            <a:r>
              <a:rPr lang="en-US" sz="2700" dirty="0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(B200617)</a:t>
            </a:r>
          </a:p>
          <a:p>
            <a:pPr>
              <a:lnSpc>
                <a:spcPts val="3727"/>
              </a:lnSpc>
            </a:pPr>
            <a:r>
              <a:rPr lang="en-US" sz="2700" dirty="0" err="1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R.Pavani</a:t>
            </a:r>
            <a:r>
              <a:rPr lang="en-US" sz="2700" dirty="0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(B200845)</a:t>
            </a:r>
          </a:p>
          <a:p>
            <a:pPr>
              <a:lnSpc>
                <a:spcPts val="3727"/>
              </a:lnSpc>
            </a:pPr>
            <a:r>
              <a:rPr lang="en-US" sz="2700" dirty="0" err="1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J.Harini</a:t>
            </a:r>
            <a:r>
              <a:rPr lang="en-US" sz="2700" dirty="0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(B200838)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62563" y="5666600"/>
            <a:ext cx="10816874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900" b="1" dirty="0" err="1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Dept.of</a:t>
            </a:r>
            <a:r>
              <a:rPr lang="en-US" sz="3900" b="1" dirty="0">
                <a:solidFill>
                  <a:srgbClr val="141414"/>
                </a:solidFill>
                <a:latin typeface="Calibri (MS)"/>
                <a:ea typeface="Calibri (MS)"/>
                <a:cs typeface="Calibri (MS)"/>
                <a:sym typeface="Calibri (MS)"/>
              </a:rPr>
              <a:t> Computer Science and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28800" y="355221"/>
            <a:ext cx="13428336" cy="1804377"/>
            <a:chOff x="-1028240" y="-85725"/>
            <a:chExt cx="12732052" cy="1710817"/>
          </a:xfrm>
        </p:grpSpPr>
        <p:sp>
          <p:nvSpPr>
            <p:cNvPr id="3" name="Freeform 3"/>
            <p:cNvSpPr/>
            <p:nvPr/>
          </p:nvSpPr>
          <p:spPr>
            <a:xfrm>
              <a:off x="-1028240" y="0"/>
              <a:ext cx="11703808" cy="1625088"/>
            </a:xfrm>
            <a:custGeom>
              <a:avLst/>
              <a:gdLst/>
              <a:ahLst/>
              <a:cxnLst/>
              <a:rect l="l" t="t" r="r" b="b"/>
              <a:pathLst>
                <a:path w="11703808" h="1625088">
                  <a:moveTo>
                    <a:pt x="0" y="0"/>
                  </a:moveTo>
                  <a:lnTo>
                    <a:pt x="11703808" y="0"/>
                  </a:lnTo>
                  <a:lnTo>
                    <a:pt x="11703808" y="1625088"/>
                  </a:lnTo>
                  <a:lnTo>
                    <a:pt x="0" y="16250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330" b="-9033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03812" cy="17108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rgbClr val="0033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Introduction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743203" y="2159598"/>
            <a:ext cx="13025714" cy="6001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900" dirty="0"/>
              <a:t>Healthcare is one of the most important sectors, but people often face issues such as:</a:t>
            </a:r>
          </a:p>
          <a:p>
            <a:endParaRPr lang="en-US" sz="3900" dirty="0"/>
          </a:p>
          <a:p>
            <a:pPr marL="571490" indent="-571490">
              <a:buFont typeface="Arial" pitchFamily="34" charset="0"/>
              <a:buChar char="•"/>
            </a:pPr>
            <a:r>
              <a:rPr lang="en-US" sz="3900" dirty="0"/>
              <a:t>Not getting immediate doctor consultation</a:t>
            </a:r>
          </a:p>
          <a:p>
            <a:pPr marL="571490" indent="-571490">
              <a:buFont typeface="Arial" pitchFamily="34" charset="0"/>
              <a:buChar char="•"/>
            </a:pPr>
            <a:endParaRPr lang="en-US" sz="3900" dirty="0"/>
          </a:p>
          <a:p>
            <a:pPr marL="571490" indent="-571490">
              <a:buFont typeface="Arial" pitchFamily="34" charset="0"/>
              <a:buChar char="•"/>
            </a:pPr>
            <a:r>
              <a:rPr lang="en-US" sz="3900" dirty="0"/>
              <a:t>Lack of medical awareness</a:t>
            </a:r>
          </a:p>
          <a:p>
            <a:pPr marL="571490" indent="-571490">
              <a:buFont typeface="Arial" pitchFamily="34" charset="0"/>
              <a:buChar char="•"/>
            </a:pPr>
            <a:endParaRPr lang="en-US" sz="3900" dirty="0"/>
          </a:p>
          <a:p>
            <a:pPr marL="571490" indent="-571490">
              <a:buFont typeface="Arial" pitchFamily="34" charset="0"/>
              <a:buChar char="•"/>
            </a:pPr>
            <a:r>
              <a:rPr lang="en-US" sz="3900" dirty="0"/>
              <a:t>High cost of doctor visits for small symptoms</a:t>
            </a:r>
          </a:p>
          <a:p>
            <a:pPr marL="571490" indent="-571490">
              <a:buFont typeface="Arial" pitchFamily="34" charset="0"/>
              <a:buChar char="•"/>
            </a:pPr>
            <a:endParaRPr lang="en-US" sz="3900" dirty="0"/>
          </a:p>
          <a:p>
            <a:pPr marL="571490" indent="-571490">
              <a:buFont typeface="Arial" pitchFamily="34" charset="0"/>
              <a:buChar char="•"/>
            </a:pPr>
            <a:r>
              <a:rPr lang="en-US" sz="3900" dirty="0"/>
              <a:t>Delay in diagnosis due to time and distance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95994" y="2"/>
            <a:ext cx="12343864" cy="1620002"/>
            <a:chOff x="0" y="0"/>
            <a:chExt cx="11703812" cy="15360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3808" cy="1536000"/>
            </a:xfrm>
            <a:custGeom>
              <a:avLst/>
              <a:gdLst/>
              <a:ahLst/>
              <a:cxnLst/>
              <a:rect l="l" t="t" r="r" b="b"/>
              <a:pathLst>
                <a:path w="11703808" h="1536000">
                  <a:moveTo>
                    <a:pt x="0" y="0"/>
                  </a:moveTo>
                  <a:lnTo>
                    <a:pt x="11703808" y="0"/>
                  </a:lnTo>
                  <a:lnTo>
                    <a:pt x="11703808" y="1536000"/>
                  </a:lnTo>
                  <a:lnTo>
                    <a:pt x="0" y="153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8469" b="-98469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03812" cy="16217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0033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system &amp; its drawbacks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46429" y="1179413"/>
            <a:ext cx="12166870" cy="9694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Existing System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symptom checker apps</a:t>
            </a:r>
          </a:p>
          <a:p>
            <a:pPr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8072" lvl="1" indent="-274035">
              <a:lnSpc>
                <a:spcPts val="36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-based healthcare assistants</a:t>
            </a:r>
          </a:p>
          <a:p>
            <a:pPr marL="548072" lvl="1" indent="-274035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8072" lvl="1" indent="-274035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Online medical websites</a:t>
            </a:r>
          </a:p>
          <a:p>
            <a:pPr marL="548072" lvl="1" indent="-274035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48072" lvl="1" indent="-274035">
              <a:lnSpc>
                <a:spcPts val="3600"/>
              </a:lnSpc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Drawbacks:</a:t>
            </a:r>
          </a:p>
          <a:p>
            <a:pPr marL="548072" lvl="1" indent="-274035">
              <a:lnSpc>
                <a:spcPts val="3600"/>
              </a:lnSpc>
            </a:pPr>
            <a:endParaRPr lang="en-US" sz="30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Mostly text-only interaction</a:t>
            </a:r>
          </a:p>
          <a:p>
            <a:pPr marL="386074" lvl="1" indent="-193036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support for voice + image + OCR</a:t>
            </a:r>
          </a:p>
          <a:p>
            <a:pPr marL="386074" lvl="1" indent="-193036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Cannot analyze prescriptions and lab reports</a:t>
            </a:r>
          </a:p>
          <a:p>
            <a:pPr marL="386074" lvl="1" indent="-193036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 accessibility for non-technical users</a:t>
            </a:r>
          </a:p>
          <a:p>
            <a:pPr marL="386074" lvl="1" indent="-193036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3038" lvl="1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integrated end-to-end in one platform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/>
          <p:nvPr>
            <p:extLst>
              <p:ext uri="{D42A27DB-BD31-4B8C-83A1-F6EECF244321}">
                <p14:modId xmlns:p14="http://schemas.microsoft.com/office/powerpoint/2010/main" val="3725366003"/>
              </p:ext>
            </p:extLst>
          </p:nvPr>
        </p:nvGraphicFramePr>
        <p:xfrm>
          <a:off x="4191003" y="1638300"/>
          <a:ext cx="10608470" cy="5304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Worksheet" r:id="rId3" imgW="9042400" imgH="5270500" progId="Excel.Sheet.12">
                  <p:embed/>
                </p:oleObj>
              </mc:Choice>
              <mc:Fallback>
                <p:oleObj name="Worksheet" r:id="rId3" imgW="9042400" imgH="5270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91003" y="1638300"/>
                        <a:ext cx="10608470" cy="53042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7" name="Picture 3" descr="C:\Users\STUDENT\OneDrive\Pictures\Screenshots\Screenshot 2026-02-07 101021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38302"/>
            <a:ext cx="15849600" cy="809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4191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Literature Review</a:t>
            </a:r>
            <a:endParaRPr lang="en-IN" b="1" dirty="0"/>
          </a:p>
        </p:txBody>
      </p:sp>
    </p:spTree>
  </p:cSld>
  <p:clrMapOvr>
    <a:masterClrMapping/>
  </p:clrMapOvr>
  <p:transition>
    <p:push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800" y="412016"/>
            <a:ext cx="12343864" cy="1207986"/>
            <a:chOff x="0" y="0"/>
            <a:chExt cx="11703812" cy="1145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3808" cy="1145344"/>
            </a:xfrm>
            <a:custGeom>
              <a:avLst/>
              <a:gdLst/>
              <a:ahLst/>
              <a:cxnLst/>
              <a:rect l="l" t="t" r="r" b="b"/>
              <a:pathLst>
                <a:path w="11703808" h="1145344">
                  <a:moveTo>
                    <a:pt x="0" y="0"/>
                  </a:moveTo>
                  <a:lnTo>
                    <a:pt x="11703808" y="0"/>
                  </a:lnTo>
                  <a:lnTo>
                    <a:pt x="11703808" y="1145344"/>
                  </a:lnTo>
                  <a:lnTo>
                    <a:pt x="0" y="1145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9109" b="-14911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03812" cy="123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759"/>
                </a:lnSpc>
              </a:pPr>
              <a:r>
                <a:rPr lang="en-US" sz="4800" b="1">
                  <a:solidFill>
                    <a:srgbClr val="0033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System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19403" y="1409700"/>
            <a:ext cx="10160770" cy="9130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Proposed system overview:</a:t>
            </a:r>
          </a:p>
          <a:p>
            <a:pPr>
              <a:lnSpc>
                <a:spcPts val="3239"/>
              </a:lnSpc>
            </a:pPr>
            <a:endParaRPr lang="en-US" sz="30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3239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Our system provides a complete healthcare assistant with 3 inputs:</a:t>
            </a:r>
          </a:p>
          <a:p>
            <a:pPr>
              <a:lnSpc>
                <a:spcPts val="3239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 Input</a:t>
            </a:r>
          </a:p>
          <a:p>
            <a:pPr>
              <a:lnSpc>
                <a:spcPts val="3239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Voice Input</a:t>
            </a:r>
          </a:p>
          <a:p>
            <a:pPr>
              <a:lnSpc>
                <a:spcPts val="3239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Input</a:t>
            </a:r>
          </a:p>
          <a:p>
            <a:pPr>
              <a:lnSpc>
                <a:spcPts val="3239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Output:</a:t>
            </a:r>
          </a:p>
          <a:p>
            <a:pPr>
              <a:lnSpc>
                <a:spcPts val="3239"/>
              </a:lnSpc>
            </a:pPr>
            <a:endParaRPr lang="en-US" sz="30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3239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Disease possibility / health issue type</a:t>
            </a:r>
          </a:p>
          <a:p>
            <a:pPr>
              <a:lnSpc>
                <a:spcPts val="3239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Precautions</a:t>
            </a:r>
          </a:p>
          <a:p>
            <a:pPr>
              <a:lnSpc>
                <a:spcPts val="3239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Home remedies</a:t>
            </a:r>
          </a:p>
          <a:p>
            <a:pPr>
              <a:lnSpc>
                <a:spcPts val="3239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Which doctor to consult, Audio output response</a:t>
            </a:r>
          </a:p>
          <a:p>
            <a:pPr>
              <a:lnSpc>
                <a:spcPts val="3239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r>
              <a:rPr lang="en-US" sz="270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2142" y="412018"/>
            <a:ext cx="12343864" cy="1713965"/>
            <a:chOff x="0" y="0"/>
            <a:chExt cx="11703812" cy="1625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3808" cy="1625088"/>
            </a:xfrm>
            <a:custGeom>
              <a:avLst/>
              <a:gdLst/>
              <a:ahLst/>
              <a:cxnLst/>
              <a:rect l="l" t="t" r="r" b="b"/>
              <a:pathLst>
                <a:path w="11703808" h="1625088">
                  <a:moveTo>
                    <a:pt x="0" y="0"/>
                  </a:moveTo>
                  <a:lnTo>
                    <a:pt x="11703808" y="0"/>
                  </a:lnTo>
                  <a:lnTo>
                    <a:pt x="11703808" y="1625088"/>
                  </a:lnTo>
                  <a:lnTo>
                    <a:pt x="0" y="16250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330" b="-9033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03812" cy="17108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039"/>
                </a:lnSpc>
              </a:pPr>
              <a:r>
                <a:rPr lang="en-US" sz="4300" b="1">
                  <a:solidFill>
                    <a:srgbClr val="0033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Advantages of Proposed System Over Existing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22563" y="2204229"/>
            <a:ext cx="12166870" cy="600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Multi-input system (text + voice + image)</a:t>
            </a:r>
          </a:p>
          <a:p>
            <a:pPr marL="386074" lvl="1" indent="-193036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User-friendly and accessible</a:t>
            </a:r>
          </a:p>
          <a:p>
            <a:pPr marL="386074" lvl="1" indent="-193036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Useful for rural and elderly users</a:t>
            </a:r>
          </a:p>
          <a:p>
            <a:pPr marL="386074" lvl="1" indent="-193036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Works like real-time consultation support</a:t>
            </a:r>
          </a:p>
          <a:p>
            <a:pPr marL="386074" lvl="1" indent="-193036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Prescription/lab report analyzer possible</a:t>
            </a:r>
          </a:p>
          <a:p>
            <a:pPr marL="386074" lvl="1" indent="-193036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Generates audio output automatically</a:t>
            </a:r>
          </a:p>
          <a:p>
            <a:pPr marL="386074" lvl="1" indent="-193036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Better real-world healthcare support than text-only bots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82558" y="578008"/>
            <a:ext cx="11652252" cy="220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8860" lvl="1">
              <a:lnSpc>
                <a:spcPts val="8639"/>
              </a:lnSpc>
            </a:pPr>
            <a:r>
              <a:rPr lang="en-US" sz="4800" b="1" dirty="0">
                <a:solidFill>
                  <a:srgbClr val="003366"/>
                </a:solidFill>
                <a:latin typeface="Arial Bold"/>
                <a:ea typeface="Arial Bold"/>
                <a:cs typeface="Arial Bold"/>
                <a:sym typeface="Arial Bold"/>
              </a:rPr>
              <a:t>Technologies used</a:t>
            </a:r>
          </a:p>
          <a:p>
            <a:pPr marL="617718" lvl="1" indent="-308860">
              <a:lnSpc>
                <a:spcPts val="8639"/>
              </a:lnSpc>
            </a:pPr>
            <a:endParaRPr lang="en-US" sz="4800" b="1" dirty="0">
              <a:solidFill>
                <a:srgbClr val="003366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174503" y="2474237"/>
            <a:ext cx="11134942" cy="5539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Gradio is used to build the web interface.</a:t>
            </a:r>
          </a:p>
          <a:p>
            <a:pPr marL="386074" lvl="1" indent="-193036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OpenCV + MediaPipe are used for image-based symptom detection.</a:t>
            </a:r>
          </a:p>
          <a:p>
            <a:pPr marL="386074" lvl="1" indent="-193036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EasyOCR is used to extract text from prescriptions/lab reports.</a:t>
            </a:r>
          </a:p>
          <a:p>
            <a:pPr marL="386074" lvl="1" indent="-193036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Groq Whisper is used for voice-to-text conversion.</a:t>
            </a:r>
          </a:p>
          <a:p>
            <a:pPr marL="386074" lvl="1" indent="-193036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Groq LLaMA model is used for generating medical suggestions.</a:t>
            </a:r>
          </a:p>
          <a:p>
            <a:pPr marL="386074" lvl="1" indent="-193036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dotenv is used to securely manage the API key.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800" y="412016"/>
            <a:ext cx="12343864" cy="1207986"/>
            <a:chOff x="0" y="0"/>
            <a:chExt cx="11703812" cy="1145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3808" cy="1145344"/>
            </a:xfrm>
            <a:custGeom>
              <a:avLst/>
              <a:gdLst/>
              <a:ahLst/>
              <a:cxnLst/>
              <a:rect l="l" t="t" r="r" b="b"/>
              <a:pathLst>
                <a:path w="11703808" h="1145344">
                  <a:moveTo>
                    <a:pt x="0" y="0"/>
                  </a:moveTo>
                  <a:lnTo>
                    <a:pt x="11703808" y="0"/>
                  </a:lnTo>
                  <a:lnTo>
                    <a:pt x="11703808" y="1145344"/>
                  </a:lnTo>
                  <a:lnTo>
                    <a:pt x="0" y="11453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9109" b="-14911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03812" cy="1231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039"/>
                </a:lnSpc>
              </a:pPr>
              <a:r>
                <a:rPr lang="en-US" sz="4300" b="1">
                  <a:solidFill>
                    <a:srgbClr val="0033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Software / Hardware Requirements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952566" y="1664228"/>
            <a:ext cx="10283892" cy="9720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Software Requirements</a:t>
            </a:r>
          </a:p>
          <a:p>
            <a:pPr>
              <a:lnSpc>
                <a:spcPts val="3239"/>
              </a:lnSpc>
            </a:pPr>
            <a:endParaRPr lang="en-US" sz="30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2879"/>
              </a:lnSpc>
            </a:pPr>
            <a:r>
              <a:rPr lang="en-US" sz="2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 3.10+</a:t>
            </a:r>
          </a:p>
          <a:p>
            <a:pPr>
              <a:lnSpc>
                <a:spcPts val="3239"/>
              </a:lnSpc>
            </a:pPr>
            <a:endParaRPr lang="en-US" sz="2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2879"/>
              </a:lnSpc>
            </a:pPr>
            <a:r>
              <a:rPr lang="en-US" sz="2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Gradio</a:t>
            </a:r>
            <a:endParaRPr lang="en-US" sz="2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endParaRPr lang="en-US" sz="2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2879"/>
              </a:lnSpc>
            </a:pPr>
            <a:r>
              <a:rPr lang="en-US" sz="2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OpenCV</a:t>
            </a:r>
            <a:endParaRPr lang="en-US" sz="2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endParaRPr lang="en-US" sz="2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2879"/>
              </a:lnSpc>
            </a:pPr>
            <a:r>
              <a:rPr lang="en-US" sz="2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EasyOCR</a:t>
            </a:r>
            <a:endParaRPr lang="en-US" sz="2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endParaRPr lang="en-US" sz="2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2879"/>
              </a:lnSpc>
            </a:pPr>
            <a:r>
              <a:rPr lang="en-US" sz="2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lang="en-US" sz="2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endParaRPr lang="en-US" sz="2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2879"/>
              </a:lnSpc>
            </a:pPr>
            <a:r>
              <a:rPr lang="en-US" sz="2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Groq</a:t>
            </a:r>
            <a:r>
              <a:rPr lang="en-US" sz="23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API </a:t>
            </a:r>
            <a:r>
              <a:rPr lang="en-US" sz="23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SDK,dotenv</a:t>
            </a:r>
            <a:endParaRPr lang="en-US" sz="2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endParaRPr lang="en-US" sz="23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Hardware Requirements</a:t>
            </a:r>
          </a:p>
          <a:p>
            <a:pPr>
              <a:lnSpc>
                <a:spcPts val="3239"/>
              </a:lnSpc>
            </a:pPr>
            <a:endParaRPr lang="en-US" sz="30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>
              <a:lnSpc>
                <a:spcPts val="3239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Minimum 8GB RAM</a:t>
            </a:r>
          </a:p>
          <a:p>
            <a:pPr>
              <a:lnSpc>
                <a:spcPts val="3239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 i3/i5 processor, Internet required for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Groq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API + </a:t>
            </a:r>
            <a:r>
              <a:rPr lang="en-US" sz="27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gTTS</a:t>
            </a:r>
            <a:r>
              <a:rPr lang="en-US" sz="27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(if used)</a:t>
            </a:r>
          </a:p>
          <a:p>
            <a:pPr>
              <a:lnSpc>
                <a:spcPts val="3239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r>
              <a:rPr lang="en-US" sz="27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ts val="3239"/>
              </a:lnSpc>
            </a:pPr>
            <a:endParaRPr lang="en-US" sz="27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18008" y="1104902"/>
            <a:ext cx="12343864" cy="1713965"/>
            <a:chOff x="0" y="0"/>
            <a:chExt cx="11703812" cy="1625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3808" cy="1625088"/>
            </a:xfrm>
            <a:custGeom>
              <a:avLst/>
              <a:gdLst/>
              <a:ahLst/>
              <a:cxnLst/>
              <a:rect l="l" t="t" r="r" b="b"/>
              <a:pathLst>
                <a:path w="11703808" h="1625088">
                  <a:moveTo>
                    <a:pt x="0" y="0"/>
                  </a:moveTo>
                  <a:lnTo>
                    <a:pt x="11703808" y="0"/>
                  </a:lnTo>
                  <a:lnTo>
                    <a:pt x="11703808" y="1625088"/>
                  </a:lnTo>
                  <a:lnTo>
                    <a:pt x="0" y="16250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330" b="-9033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03812" cy="17108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759"/>
                </a:lnSpc>
              </a:pPr>
              <a:r>
                <a:rPr lang="en-US" sz="4800">
                  <a:solidFill>
                    <a:srgbClr val="0033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Stage 1 – Text-Based Consultation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00403" y="3390900"/>
            <a:ext cx="10680634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enters symptoms using text</a:t>
            </a:r>
          </a:p>
          <a:p>
            <a:pPr marL="193036" lvl="1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analyzes symptoms using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groq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API Generates:</a:t>
            </a:r>
          </a:p>
          <a:p>
            <a:pPr marL="386074" lvl="1" indent="-193036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56070" lvl="1" indent="-328035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Possible health condition</a:t>
            </a:r>
          </a:p>
          <a:p>
            <a:pPr marL="328035" lvl="1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56070" lvl="1" indent="-328035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Precautionary advice</a:t>
            </a:r>
          </a:p>
          <a:p>
            <a:pPr marL="328035" lvl="1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56070" lvl="1" indent="-328035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Suggested next steps</a:t>
            </a:r>
          </a:p>
          <a:p>
            <a:pPr marL="328035" lvl="1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56070" lvl="1" indent="-328035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provided in text format</a:t>
            </a:r>
          </a:p>
          <a:p>
            <a:pPr marL="656070" lvl="1" indent="-328035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800" y="412018"/>
            <a:ext cx="12343864" cy="1713965"/>
            <a:chOff x="0" y="0"/>
            <a:chExt cx="11703812" cy="1625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3808" cy="1625088"/>
            </a:xfrm>
            <a:custGeom>
              <a:avLst/>
              <a:gdLst/>
              <a:ahLst/>
              <a:cxnLst/>
              <a:rect l="l" t="t" r="r" b="b"/>
              <a:pathLst>
                <a:path w="11703808" h="1625088">
                  <a:moveTo>
                    <a:pt x="0" y="0"/>
                  </a:moveTo>
                  <a:lnTo>
                    <a:pt x="11703808" y="0"/>
                  </a:lnTo>
                  <a:lnTo>
                    <a:pt x="11703808" y="1625088"/>
                  </a:lnTo>
                  <a:lnTo>
                    <a:pt x="0" y="16250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330" b="-9033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03812" cy="17108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759"/>
                </a:lnSpc>
              </a:pPr>
              <a:r>
                <a:rPr lang="en-US" sz="4800">
                  <a:solidFill>
                    <a:srgbClr val="00336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Stage 2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22560" y="1968258"/>
            <a:ext cx="11626868" cy="600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Voice &amp; image input</a:t>
            </a:r>
          </a:p>
          <a:p>
            <a:pPr>
              <a:lnSpc>
                <a:spcPts val="3600"/>
              </a:lnSpc>
            </a:pPr>
            <a:endParaRPr lang="en-US" sz="30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provides symptoms through voice or image</a:t>
            </a:r>
          </a:p>
          <a:p>
            <a:pPr marL="193036" lvl="1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Converts voice input into text and identifies relevant information from uploaded images.</a:t>
            </a:r>
          </a:p>
          <a:p>
            <a:pPr marL="193036" lvl="1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Generates output in text and voice formats</a:t>
            </a:r>
          </a:p>
          <a:p>
            <a:pPr marL="193036" lvl="1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Allows users to download voice output</a:t>
            </a:r>
          </a:p>
          <a:p>
            <a:pPr marL="193036" lvl="1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Includes machine-generated prescription analysis</a:t>
            </a:r>
          </a:p>
          <a:p>
            <a:pPr marL="386074" lvl="1" indent="-193036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800" y="-262860"/>
            <a:ext cx="12343864" cy="1882862"/>
            <a:chOff x="0" y="-416146"/>
            <a:chExt cx="11703812" cy="1785231"/>
          </a:xfrm>
        </p:grpSpPr>
        <p:sp>
          <p:nvSpPr>
            <p:cNvPr id="3" name="Freeform 3"/>
            <p:cNvSpPr/>
            <p:nvPr/>
          </p:nvSpPr>
          <p:spPr>
            <a:xfrm>
              <a:off x="0" y="-416146"/>
              <a:ext cx="11703808" cy="1369088"/>
            </a:xfrm>
            <a:custGeom>
              <a:avLst/>
              <a:gdLst/>
              <a:ahLst/>
              <a:cxnLst/>
              <a:rect l="l" t="t" r="r" b="b"/>
              <a:pathLst>
                <a:path w="11703808" h="1369088">
                  <a:moveTo>
                    <a:pt x="0" y="0"/>
                  </a:moveTo>
                  <a:lnTo>
                    <a:pt x="11703808" y="0"/>
                  </a:lnTo>
                  <a:lnTo>
                    <a:pt x="11703808" y="1369088"/>
                  </a:lnTo>
                  <a:lnTo>
                    <a:pt x="0" y="13690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570" b="-11657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03812" cy="145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 dirty="0">
                  <a:solidFill>
                    <a:srgbClr val="0033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Workflow</a:t>
              </a:r>
            </a:p>
          </p:txBody>
        </p:sp>
      </p:grpSp>
      <p:pic>
        <p:nvPicPr>
          <p:cNvPr id="5" name="Picture 2" descr="C:\Users\STUDENT\Downloads\WhatsApp Image 2026-03-24 at 13.54.19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333500"/>
            <a:ext cx="9829800" cy="792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STUDENT\Downloads\WhatsApp Image 2026-03-24 at 13.39.41.jpe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714500"/>
            <a:ext cx="134112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411957"/>
            <a:ext cx="13106400" cy="1150143"/>
          </a:xfrm>
        </p:spPr>
        <p:txBody>
          <a:bodyPr>
            <a:normAutofit/>
          </a:bodyPr>
          <a:lstStyle/>
          <a:p>
            <a:r>
              <a:rPr lang="en-US" sz="5400" b="0" dirty="0"/>
              <a:t>                              Result</a:t>
            </a:r>
            <a:endParaRPr lang="en-IN" sz="5400" b="0" dirty="0"/>
          </a:p>
        </p:txBody>
      </p:sp>
    </p:spTree>
    <p:extLst>
      <p:ext uri="{BB962C8B-B14F-4D97-AF65-F5344CB8AC3E}">
        <p14:creationId xmlns:p14="http://schemas.microsoft.com/office/powerpoint/2010/main" val="2039632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C:\Users\STUDENT\Downloads\WhatsApp Image 2026-03-24 at 13.39.27.jpe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952504"/>
            <a:ext cx="13792200" cy="733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00" dirty="0"/>
              <a:t>.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169387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800" y="412018"/>
            <a:ext cx="12343864" cy="1713965"/>
            <a:chOff x="0" y="0"/>
            <a:chExt cx="11703812" cy="1625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3808" cy="1625088"/>
            </a:xfrm>
            <a:custGeom>
              <a:avLst/>
              <a:gdLst/>
              <a:ahLst/>
              <a:cxnLst/>
              <a:rect l="l" t="t" r="r" b="b"/>
              <a:pathLst>
                <a:path w="11703808" h="1625088">
                  <a:moveTo>
                    <a:pt x="0" y="0"/>
                  </a:moveTo>
                  <a:lnTo>
                    <a:pt x="11703808" y="0"/>
                  </a:lnTo>
                  <a:lnTo>
                    <a:pt x="11703808" y="1625088"/>
                  </a:lnTo>
                  <a:lnTo>
                    <a:pt x="0" y="16250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330" b="-9033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03812" cy="17108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0033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00391" y="1887617"/>
            <a:ext cx="12086690" cy="230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 AI-based healthcare chatbot provides preliminary medical guidance through intelligent human–machine interaction. By analyzing user queries using a structured knowledge base, the system delivers quick and reliable health information while supporting healthcare accessibility and encouraging professional consultation for critical cases.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24585" y="1849282"/>
            <a:ext cx="12086690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8072" lvl="1" indent="-274035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Manali Jain et al., AI HealthCare Chatbot,IEEE MIT Art, Design and Technology School of Computing International Conference (MITADTSoCiCon), 2024.</a:t>
            </a:r>
          </a:p>
          <a:p>
            <a:pPr marL="548072" lvl="1" indent="-274035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K. Oh et al., Development of a Psychiatric Counseling Chatbot for Mental Healthcare Services,IEEE International Conference on Mobile Data Management, 2017.</a:t>
            </a:r>
          </a:p>
          <a:p>
            <a:pPr marL="548072" lvl="1" indent="-274035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B. Setiaji and F. W. Wibowo, Human-to-Machine Conversation Modeling: Chatbot Implementation Using Knowledge from Databases,IEEE International Conference on Intelligent Systems Modelling and Simulation, 2016.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92566" y="787561"/>
            <a:ext cx="7775592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759"/>
              </a:lnSpc>
            </a:pPr>
            <a:r>
              <a:rPr lang="en-US" sz="4800" b="1">
                <a:solidFill>
                  <a:srgbClr val="0033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References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1800" y="412018"/>
            <a:ext cx="12343864" cy="1713965"/>
            <a:chOff x="0" y="0"/>
            <a:chExt cx="11703812" cy="1625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3808" cy="1625088"/>
            </a:xfrm>
            <a:custGeom>
              <a:avLst/>
              <a:gdLst/>
              <a:ahLst/>
              <a:cxnLst/>
              <a:rect l="l" t="t" r="r" b="b"/>
              <a:pathLst>
                <a:path w="11703808" h="1625088">
                  <a:moveTo>
                    <a:pt x="0" y="0"/>
                  </a:moveTo>
                  <a:lnTo>
                    <a:pt x="11703808" y="0"/>
                  </a:lnTo>
                  <a:lnTo>
                    <a:pt x="11703808" y="1625088"/>
                  </a:lnTo>
                  <a:lnTo>
                    <a:pt x="0" y="16250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330" b="-9033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03812" cy="17108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5759"/>
                </a:lnSpc>
              </a:pPr>
              <a:r>
                <a:rPr lang="en-US" sz="4800" b="1">
                  <a:solidFill>
                    <a:srgbClr val="00336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098369" y="2101091"/>
            <a:ext cx="10401082" cy="323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accuracy using advanced AI and machine learning models</a:t>
            </a: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with telemedicine platforms for expert consultation</a:t>
            </a:r>
          </a:p>
          <a:p>
            <a:pPr marL="386074" lvl="1" indent="-193036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 data security and privacy for healthcare applications</a:t>
            </a:r>
          </a:p>
          <a:p>
            <a:pPr marL="386074" lvl="1" indent="-193036">
              <a:lnSpc>
                <a:spcPts val="3600"/>
              </a:lnSpc>
            </a:pPr>
            <a:endParaRPr lang="en-US" sz="3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22562" y="2705100"/>
            <a:ext cx="7036872" cy="2218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78"/>
              </a:lnSpc>
            </a:pPr>
            <a:r>
              <a:rPr lang="en-US" sz="7100" b="1" dirty="0">
                <a:solidFill>
                  <a:srgbClr val="00336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67</TotalTime>
  <Words>533</Words>
  <Application>Microsoft Office PowerPoint</Application>
  <PresentationFormat>Custom</PresentationFormat>
  <Paragraphs>153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Calibri (MS) Bold</vt:lpstr>
      <vt:lpstr>Arial Bold</vt:lpstr>
      <vt:lpstr>Wingdings 3</vt:lpstr>
      <vt:lpstr>Lucida Sans Unicode</vt:lpstr>
      <vt:lpstr>Calibri (MS)</vt:lpstr>
      <vt:lpstr>Wingdings 2</vt:lpstr>
      <vt:lpstr>Verdana</vt:lpstr>
      <vt:lpstr>Concourse</vt:lpstr>
      <vt:lpstr>Worksheet</vt:lpstr>
      <vt:lpstr>PowerPoint Presentation</vt:lpstr>
      <vt:lpstr>PowerPoint Presentation</vt:lpstr>
      <vt:lpstr>PowerPoint Presentation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Result</vt:lpstr>
      <vt:lpstr>.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Title</dc:title>
  <cp:lastModifiedBy>STUDENT</cp:lastModifiedBy>
  <cp:revision>21</cp:revision>
  <dcterms:created xsi:type="dcterms:W3CDTF">2006-08-16T00:00:00Z</dcterms:created>
  <dcterms:modified xsi:type="dcterms:W3CDTF">2026-03-24T08:25:27Z</dcterms:modified>
  <dc:identifier>DAHAnIwyzHg</dc:identifier>
</cp:coreProperties>
</file>